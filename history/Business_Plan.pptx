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"/>
        <a:cs typeface="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"/>
        <a:cs typeface="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"/>
          <a:cs typeface="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"/>
          <a:cs typeface="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"/>
          <a:cs typeface="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"/>
          <a:cs typeface="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"/>
          <a:cs typeface="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"/>
          <a:cs typeface="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"/>
          <a:cs typeface="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"/>
          <a:cs typeface="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"/>
          <a:cs typeface="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"/>
          <a:cs typeface="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"/>
          <a:cs typeface="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3108960"/>
            <a:ext cx="6400800" cy="6400800"/>
          </a:xfrm>
          <a:prstGeom prst="ellipse">
            <a:avLst/>
          </a:prstGeom>
          <a:solidFill>
            <a:srgbClr val="1D4ED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F0B429">
              <a:alpha val="18000"/>
            </a:srgbClr>
          </a:solidFill>
          <a:ln/>
        </p:spPr>
      </p:sp>
      <p:pic>
        <p:nvPicPr>
          <p:cNvPr id="4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76809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Valdis Licis · Full-stack and platform work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0B429"/>
                </a:solidFill>
              </a:rPr>
              <a:t>MULTI-TENANT PLATFORM · DELIVERY PLAN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Tenant isolation you can attack, not a diagram you have to trust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5577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D3EE"/>
                </a:solidFill>
              </a:rPr>
              <a:t>A working slice of the platform on your stack: Next.js 14 App Router, TypeScript strict, Supabase-shaped Postgres with row level security, Vercel and an installable PWA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5120640"/>
            <a:ext cx="493776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2578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0E4"/>
                </a:solidFill>
              </a:rPr>
              <a:t>13 isolation checks run live and in CI · 4 roles enforced in Postgres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0E4"/>
                </a:solidFill>
              </a:rPr>
              <a:t>Encrypted credential vault, the trial module, working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FC0E4"/>
                </a:solidFill>
              </a:rPr>
              <a:t>Prepared by Valdis Licis · 23 September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20840" y="1508760"/>
            <a:ext cx="5029200" cy="3163824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2" name="Image 1" descr="/tmp/claude-1000/-home-ph-Client-Upwork-ritvia/b09148c5-7830-4dd8-977f-982890f12fbc/scratchpad/tvdeck/iso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029200" cy="31638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675120" y="1463040"/>
            <a:ext cx="5029200" cy="3163824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E4"/>
                </a:solidFill>
              </a:rPr>
              <a:t>The isolation suite, run in the browser against real policies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1.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A slice of the platform, built before bidding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Trelvane Performance is a fictional agency used for the demo; the architecture is the one I would deliver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</a:t>
            </a:r>
            <a:endParaRPr lang="en-US" sz="900" dirty="0"/>
          </a:p>
        </p:txBody>
      </p:sp>
      <p:pic>
        <p:nvPicPr>
          <p:cNvPr id="9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78308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8202B"/>
                </a:solidFill>
              </a:rPr>
              <a:t>Your post fixes the stack and the shape of the work, so rather than describe experience I built the part that is hardest to judge from a CV: multi-tenancy with row level security, and the credential vault you have chosen as the paid trial. Both run in a browser against a real Postgres, so you can attack them yourself before we speak.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342900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0F141B"/>
                </a:solidFill>
              </a:rPr>
              <a:t>Isolation you can test: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8202B"/>
                </a:solidFill>
              </a:rPr>
              <a:t>13 attacks on the policies, run on the page and in CI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0F141B"/>
                </a:solidFill>
              </a:rPr>
              <a:t>The trial module, working: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8202B"/>
                </a:solidFill>
              </a:rPr>
              <a:t>envelope encryption, reveal with a reason, rotation, append-only audit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0F141B"/>
                </a:solidFill>
              </a:rPr>
              <a:t>Daily modules: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8202B"/>
                </a:solidFill>
              </a:rPr>
              <a:t>KPIs, watch and alert engine, tasks, rota, holidays, SOPs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b="1" dirty="0">
                <a:solidFill>
                  <a:srgbClr val="0F141B"/>
                </a:solidFill>
              </a:rPr>
              <a:t>Installable: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8202B"/>
                </a:solidFill>
              </a:rPr>
              <a:t>service worker, offline shell, notifications, and the push path written out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17830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8EEFC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18928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D8"/>
                </a:solidFill>
              </a:rPr>
              <a:t>13 / 13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858000" y="2404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isolation checks passing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235440" y="17830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8EEFC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0" y="189280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D8"/>
                </a:solidFill>
              </a:rPr>
              <a:t>4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418320" y="2404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roles enforced in Postgres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75120" y="30632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8EEFC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31729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D8"/>
                </a:solidFill>
              </a:rPr>
              <a:t>17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858000" y="3685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tests: policies, crypto, watch engine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235440" y="30632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E8EEFC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0" y="31729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D8"/>
                </a:solidFill>
              </a:rPr>
              <a:t>0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9418320" y="368503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tenant filters in page code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75120" y="44348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0" y="44348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The tenant is never taken from the request. It comes from the membership table, checked inside the policy, so a forgotten filter in application code is not a leak.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75120" y="4526280"/>
            <a:ext cx="54864" cy="82296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2. YOUR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Every requirement in the post, and where it is answered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3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30936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You asked for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How it is met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Slide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Next.js 14 App Router, TypeScript strict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Built on 14.2.35, strict plus noUncheckedIndexedAccess, no any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5, 29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Supabase: Postgres, RLS, Auth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One migration, auth.uid()/auth.jwt(), anon/authenticated/service_role, policies per table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6 to 9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Multi-tenant scaffolding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Tenants, memberships, tenant_id everywhere, membership-resolved policies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7, 8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Role-based auth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Owner, admin, coach, client: rows and tables, not menus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Encrypted vault (trial project)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Envelope encryption, per-tenant keys, rotation, append-only audit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12 to 14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Migration of 3 live apps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Map, import into a copy, parallel read-only, rehearsed cutover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15, 16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Pay plans and coaching workflows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Plans, arrears, session lifecycle, client view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17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KPI dashboard and watch/alert engine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Metrics per tenant, rules as rows, pure evaluator, alert hygiene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18, 19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Task, rota and holiday module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Board, rota, requests with approval split by policy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20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PWA with push notifications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Manifest, worker, install, cache policy, VAPID path, iOS caveat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22, 23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Gemini video analysis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Queued jobs, signed URLs, structured output validated before storage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24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In-app SOP repository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Agency-wide and tenant SOPs under one policy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21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8202B"/>
                          </a:solidFill>
                        </a:rPr>
                        <a:t>Claude Code, sprints, pricing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The loop, five caught mistakes, sprint shape and fixed price per sprint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8202B"/>
                          </a:solidFill>
                        </a:rPr>
                        <a:t>25 to 27, 30</a:t>
                      </a:r>
                      <a:endParaRPr lang="en-US" sz="10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2. YOUR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What the demo contains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Everything below runs in the browser: no account, no server, nothing typed leaves the tab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4</a:t>
            </a:r>
            <a:endParaRPr lang="en-US" sz="900" dirty="0"/>
          </a:p>
        </p:txBody>
      </p:sp>
      <p:pic>
        <p:nvPicPr>
          <p:cNvPr id="9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783080"/>
            <a:ext cx="6675120" cy="4171950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1" name="Image 1" descr="/tmp/claude-1000/-home-ph-Client-Upwork-ritvia/b09148c5-7830-4dd8-977f-982890f12fbc/scratchpad/tvdeck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675120" cy="41719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1737360"/>
            <a:ext cx="6675120" cy="4171950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598246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The overview page, with the modules and the stack as specified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37360"/>
          <a:ext cx="4114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Page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shows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8202B"/>
                          </a:solidFill>
                        </a:rPr>
                        <a:t>Tenancy and RLS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02B"/>
                          </a:solidFill>
                        </a:rPr>
                        <a:t>Same SQL as four people, service role beside it, 13 live checks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8202B"/>
                          </a:solidFill>
                        </a:rPr>
                        <a:t>Credential vault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02B"/>
                          </a:solidFill>
                        </a:rPr>
                        <a:t>The trial module, end to end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8202B"/>
                          </a:solidFill>
                        </a:rPr>
                        <a:t>Operations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02B"/>
                          </a:solidFill>
                        </a:rPr>
                        <a:t>KPIs, watch engine, tasks, rota, holidays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8202B"/>
                          </a:solidFill>
                        </a:rPr>
                        <a:t>SOPs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02B"/>
                          </a:solidFill>
                        </a:rPr>
                        <a:t>Agency-wide and tenant procedures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8202B"/>
                          </a:solidFill>
                        </a:rPr>
                        <a:t>PWA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02B"/>
                          </a:solidFill>
                        </a:rPr>
                        <a:t>Worker, cache policy, install, notification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8202B"/>
                          </a:solidFill>
                        </a:rPr>
                        <a:t>Engineering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8202B"/>
                          </a:solidFill>
                        </a:rPr>
                        <a:t>Claude Code loop, mistakes, sprints, migration</a:t>
                      </a:r>
                      <a:endParaRPr lang="en-US" sz="11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8202B"/>
                </a:solidFill>
              </a:rPr>
              <a:t>The demo is deliberately not connected to a hosted Supabase project. It runs Postgres 16 compiled to WebAssembly, so the migration, roles and policies are the ones I would deploy, and the same files run in the test suite.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3.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The stack you specified, with the parts that carry risk marked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5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47672"/>
            <a:ext cx="64008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87452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Browser and PWA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Next.js 14 App Router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8892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88920" y="1947672"/>
            <a:ext cx="64008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87452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Vercel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server components, actions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60320" y="2263140"/>
            <a:ext cx="22860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02920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9A5B0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0" y="1947672"/>
            <a:ext cx="64008" cy="630936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6360" y="187452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Supabase Postgres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RLS, migrations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00600" y="2263140"/>
            <a:ext cx="22860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26948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9A5B0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69480" y="1947672"/>
            <a:ext cx="64008" cy="630936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06640" y="187452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Supabase Auth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JWT with claims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40880" y="2263140"/>
            <a:ext cx="22860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5097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3F3F9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509760" y="1947672"/>
            <a:ext cx="64008" cy="630936"/>
          </a:xfrm>
          <a:prstGeom prst="rect">
            <a:avLst/>
          </a:prstGeom>
          <a:solidFill>
            <a:srgbClr val="3F3F9E"/>
          </a:solidFill>
          <a:ln w="12700">
            <a:solidFill>
              <a:srgbClr val="3F3F9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46920" y="187452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Cloudflare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DNS, WAF, cache rules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281160" y="2263140"/>
            <a:ext cx="22860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48640" y="3108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9A5B0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3182112"/>
            <a:ext cx="64008" cy="630936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Storage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signed URLs, private buckets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788920" y="3108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9A5B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788920" y="3182112"/>
            <a:ext cx="64008" cy="630936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2608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Edge and cron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watch engine, push send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29200" y="3108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3F3F9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29200" y="3182112"/>
            <a:ext cx="64008" cy="630936"/>
          </a:xfrm>
          <a:prstGeom prst="rect">
            <a:avLst/>
          </a:prstGeom>
          <a:solidFill>
            <a:srgbClr val="3F3F9E"/>
          </a:solidFill>
          <a:ln w="12700">
            <a:solidFill>
              <a:srgbClr val="3F3F9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6636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Gemini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video analysis, queued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269480" y="3108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269480" y="3182112"/>
            <a:ext cx="64008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0664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Web push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VAPID, per-device subs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9509760" y="31089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09760" y="3182112"/>
            <a:ext cx="64008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4692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Observability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logs, Sentry, audit trail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One codebase, one type system: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schema types generated from the database, shared by server components, actions and the client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Service role stays on the server: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browser only ever holds the anon key and a user JWT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Everything tenant-owned carries tenant_id: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no per-tenant schemas, no connection juggling, one set of policies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Cloudflare in front: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WAF rules, cache rules for the image optimiser, and a place to mitigate framework issues quickly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3.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The data model, one migration file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6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463040"/>
            <a:ext cx="6949440" cy="3931920"/>
          </a:xfrm>
          <a:prstGeom prst="rect">
            <a:avLst/>
          </a:prstGeom>
          <a:solidFill>
            <a:srgbClr val="152F7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app.tenants        id, name, slug, plan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app.users          id, email, full_name, is_staff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app.memberships    user_id, tenant_id, role            -- owner | admin | coach | client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app.credentials    tenant_id, label, ciphertext, iv, wrapped_key, key_version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app.credential_events  tenant_id, credential_id, actor_id, action, reason, at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app.pay_plans      tenant_id, client_id, amount_cents, cadence, status, next_charge_on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app.sessions       tenant_id, coach_id, client_id, starts_at, status, notes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app.metrics        tenant_id, metric, recorded_on, value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app.watch_rules    tenant_id, metric, comparator, threshold, window_days, severity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app.alerts         tenant_id, rule_id, observed, message, status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app.tasks          tenant_id, title, assignee_id, due_on, status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app.shifts         tenant_id, staff_id, on_date, starts, ends, role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app.holidays       tenant_id, staff_id, from_date, to_date, status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app.sops           tenant_id (nullable = agency-wide), title, body, tags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1463040"/>
            <a:ext cx="3931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Nullable tenant means agency-wide: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one SOP table, one policy, no second code path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Events, not flags: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the vault audit trail is append-only rows, so history cannot be quietly rewritten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Rules as rows: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watch rules are data, so the team changes thresholds without a deploy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Indexes where the reads are: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tenant_id first on every hot table, gin on SOP tags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Migrations are checked in and run in CI against a scratch database before they reach staging, so a policy change is reviewed like code.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623560"/>
            <a:ext cx="54864" cy="45720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4. MULTI-TENANCY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One rule: the tenant comes from the membership table, never from the request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7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463040"/>
            <a:ext cx="6766560" cy="2286000"/>
          </a:xfrm>
          <a:prstGeom prst="rect">
            <a:avLst/>
          </a:prstGeom>
          <a:solidFill>
            <a:srgbClr val="152F7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create or replace function app.is_member(t uuid) returns boolean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  language sql stable security definer set search_path = app, pg_temp as $$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    select exists (select 1 from app.memberships m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                   where m.tenant_id = t and m.user_id = auth.uid())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  $$;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create policy sessions_read on app.sessions for select using (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  app.has_role(tenant_id, 'owner', 'admin')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  or (app.is_member(tenant_id) and (coach_id = auth.uid() or client_id = auth.uid()))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);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397764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Why not a tenant id in the JWT: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a claim is set at sign-in and can go stale; a membership row is the truth and can be revoked in one place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Why security definer: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check runs without giving every user read access to the whole memberships table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Why search_path is pinned: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a definer function with a loose search path is a privilege escalation waiting to happen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Result: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application code can forget the tenant filter and still not leak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1508760"/>
            <a:ext cx="3648124" cy="2286000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2" name="Image 1" descr="/tmp/claude-1000/-home-ph-Client-Upwork-ritvia/b09148c5-7830-4dd8-977f-982890f12fbc/scratchpad/tvdeck/rls-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463040"/>
            <a:ext cx="3648124" cy="2286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98080" y="1463040"/>
            <a:ext cx="3648124" cy="2286000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4. MULTI-TENANCY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The same query, four different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Selected person on the left, service role on the right, with the policy underneath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8</a:t>
            </a:r>
            <a:endParaRPr lang="en-US" sz="900" dirty="0"/>
          </a:p>
        </p:txBody>
      </p:sp>
      <p:pic>
        <p:nvPicPr>
          <p:cNvPr id="9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1828800"/>
            <a:ext cx="6858000" cy="4297383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1" name="Image 1" descr="/tmp/claude-1000/-home-ph-Client-Upwork-ritvia/b09148c5-7830-4dd8-977f-982890f12fbc/scratchpad/tvdeck/rls-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58000" cy="429738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1783080"/>
            <a:ext cx="6858000" cy="4297383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6153615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The tenancy page: one SQL statement, run as the signed-in person and as the service role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680960" y="17830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An owner of three tenants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sees rows from three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An admin of two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sees two, and cannot write into the third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A coach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sees their own sessions and no vault at all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A client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sees their own plan and sessions, and no KPIs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Signed out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reads nothing: auth.uid() is null and every check fails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680960" y="484632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63840" y="4846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The page runs the SQL you can see. Editing it is allowed: the policies decide, not the page.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680960" y="4937760"/>
            <a:ext cx="54864" cy="64008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4. MULTI-TENANCY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What each role can reach, enforced in the database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9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Coach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Tenant settings and memberships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Credential vault and its audit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Pay plans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Own plan only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Coaching sessions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All in tenant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All in tenant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Own sessions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Own sessions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KPI metrics and watch rules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Alerts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Tasks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All in tenant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All in tenant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Own tasks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Rota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and write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Holiday requests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Approve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Approve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Raise own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SOPs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Agency and tenant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Agency and tenant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 agency-wide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8202B"/>
                </a:solidFill>
              </a:rPr>
              <a:t>Every cell above is a policy, not a condition in a component. The client column matters most: a client account is the one most likely to be handed to someone outside the agency.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5.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Thirteen attacks on the policies, run live and in CI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10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783080"/>
            <a:ext cx="6766560" cy="4262054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tvdeck/isol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766560" cy="426205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737360"/>
            <a:ext cx="6766560" cy="4262054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07256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Run on the tenancy page. The same file runs under vitest in CI.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98080" y="17373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8202B"/>
                </a:solidFill>
              </a:rPr>
              <a:t>Cross-tenant read by id, and by forgetting the filter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8202B"/>
                </a:solidFill>
              </a:rPr>
              <a:t>A coach reaching the vault, or another coach's session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8202B"/>
                </a:solidFill>
              </a:rPr>
              <a:t>A client reading the tenant's KPI 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8202B"/>
                </a:solidFill>
              </a:rPr>
              <a:t>Writing a row into a tenant you do not belong 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8202B"/>
                </a:solidFill>
              </a:rPr>
              <a:t>Forging an audit event in someone else's name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8202B"/>
                </a:solidFill>
              </a:rPr>
              <a:t>Editing the append-only audit trail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8202B"/>
                </a:solidFill>
              </a:rPr>
              <a:t>A request with no session at 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8202B"/>
                </a:solidFill>
              </a:rPr>
              <a:t>The service role, to prove the rows are really there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98080" y="51206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680960" y="5120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A policy that returns the right rows today is not evidence. These checks fail loudly the moment a policy is loosened, which is what makes them worth keeping in CI.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498080" y="5212080"/>
            <a:ext cx="54864" cy="82296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5.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What row level security does not cover, and what covers 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11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5852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I do about it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The service role key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Bypasses every policy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Server only, never in a client bundle, rotated on staff change, and used in named helpers rather than ad hoc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Storage buckets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Files are not rows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Private buckets, tenant-prefixed paths, signed URLs with short expiry, and access checked in the function that signs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Edge functions and cron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Run with elevated rights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Each one takes a tenant argument and re-checks membership before writing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Realtime channels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Subscriptions can over-share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Channel names scoped per tenant, authorised on connect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Aggregates and counts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Leak by inference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Counts computed inside policies-aware views, never over the service role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Backups and exports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Copies outside the policies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Encrypted, access logged, and restores tested into a scratch project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This slide is the one I would want to see from a contractor. Row level security is the floor, not the ceiling.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715000"/>
            <a:ext cx="54864" cy="36576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6. TRIAL MODULE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The credential vault: envelope encryption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12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8288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01952"/>
            <a:ext cx="64008" cy="585216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Master key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KMS or Supabase Vault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08960" y="18288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9A5B0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08960" y="1901952"/>
            <a:ext cx="64008" cy="585216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612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Tenant key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derived per tenant and version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669280" y="18288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1901952"/>
            <a:ext cx="64008" cy="5852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Data key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one per secret, AES-256-GCM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0" y="182880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F7D2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901952"/>
            <a:ext cx="64008" cy="585216"/>
          </a:xfrm>
          <a:prstGeom prst="rect">
            <a:avLst/>
          </a:prstGeom>
          <a:solidFill>
            <a:srgbClr val="3F7D20"/>
          </a:solidFill>
          <a:ln w="12700">
            <a:solidFill>
              <a:srgbClr val="3F7D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6760" y="1828800"/>
            <a:ext cx="32004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Row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ciphertext, iv, wrapped key, version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834640" y="2194560"/>
            <a:ext cx="2743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394960" y="2194560"/>
            <a:ext cx="2743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7955280" y="2194560"/>
            <a:ext cx="2743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548640" y="2926080"/>
            <a:ext cx="11064240" cy="1371600"/>
          </a:xfrm>
          <a:prstGeom prst="rect">
            <a:avLst/>
          </a:prstGeom>
          <a:solidFill>
            <a:srgbClr val="152F7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const dek = await crypto.subtle.generateKey({ name: "AES-GCM", length: 256 }, true, ["encrypt"]);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const iv  = crypto.getRandomValues(new Uint8Array(12));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const ciphertext = await crypto.subtle.encrypt(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  { name: "AES-GCM", iv, additionalData: enc.encode(tenantId + ":" + credentialId) }, dek, plaintext);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const wrapped = await crypto.subtle.wrapKey("raw", dek, await tenantKey(master, tenantId, version), { name: "AES-GCM", iv: wrapIv });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452628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Bound to its row: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tenant and credential id are additional data, so a ciphertext copied into another row will not open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Nothing reusable in the database: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wrapped key is useless without the master key, which is not stored there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Rotation is cheap: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re-wrap the small data keys; ciphertext is never rewritten, so rotation cannot corrupt a secret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6. TRIAL MODULE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In use: reveal with a reason, and what the table holds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13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783080"/>
            <a:ext cx="4937760" cy="3297254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tvdeck/vault-cipher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4937760" cy="329725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737360"/>
            <a:ext cx="4937760" cy="3297254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510776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A secret revealed for twenty seconds, with the stored row underneath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06440" y="1783080"/>
            <a:ext cx="5852160" cy="1268285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4" name="Image 2" descr="/tmp/claude-1000/-home-ph-Client-Upwork-ritvia/b09148c5-7830-4dd8-977f-982890f12fbc/scratchpad/tvdeck/vault-au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37360"/>
            <a:ext cx="5852160" cy="126828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760720" y="1737360"/>
            <a:ext cx="5852160" cy="1268285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760720" y="3078797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The audit trail: append-only by policy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5760720" y="329184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A reason is required: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under five characters and nothing is revealed or recorded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Copy is a reveal: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the clipboard is the weak point, so it is logged the same way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Auto-hide: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the plaintext leaves the screen after twenty seconds and is never put in application state longer than that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60720" y="5029200"/>
            <a:ext cx="5852160" cy="822960"/>
          </a:xfrm>
          <a:prstGeom prst="roundRect">
            <a:avLst>
              <a:gd name="adj" fmla="val 8889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0" y="50292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In production this runs in a server action with the master key in a KMS. The demo runs it in the browser with a demo key so you can try it without an account.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760720" y="5120640"/>
            <a:ext cx="54864" cy="64008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6. TRIAL MODULE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If something leaks, what does an attacker have?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14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577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leaks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they get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stops it spreading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 database dump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Ciphertext and wrapped keys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 master key in the database, so nothing opens. Rotation limits the value of an old dump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One tenant's key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That tenant's secrets only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Keys are derived per tenant and per version, so the blast radius is one account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 stolen JWT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That person's rows for its lifetime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Short-lived tokens, roles checked per query, and a reveal leaves the person's name in the audit trail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The service role key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Everything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Server only, never in a bundle, rotated on staff change, and usage is logged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 copied ciphertext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Nothing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The tenant and row id are bound in as additional data, so it will not decrypt elsewhere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 curious coach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Nothing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The policy hides existence, not just content: an empty list, not a permission error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7. MIGRATION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Three live apps, moved without a bad weekend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15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737360"/>
            <a:ext cx="4572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828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41B"/>
                </a:solidFill>
              </a:rPr>
              <a:t>1. Map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2402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02B"/>
                </a:solidFill>
              </a:rPr>
              <a:t>One document per app: tables, which tenant each row belongs to, dead fields, identifiers that must survive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3756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1737360"/>
            <a:ext cx="4572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1828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41B"/>
                </a:solidFill>
              </a:rPr>
              <a:t>2. Import into a copy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20440" y="22402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02B"/>
                </a:solidFill>
              </a:rPr>
              <a:t>A repeatable script, run as often as needed, with row counts and checksums per table and per tenant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2648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737360"/>
            <a:ext cx="457200" cy="54864"/>
          </a:xfrm>
          <a:prstGeom prst="rect">
            <a:avLst/>
          </a:prstGeom>
          <a:solidFill>
            <a:srgbClr val="9A5B06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1828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41B"/>
                </a:solidFill>
              </a:rPr>
              <a:t>3. Parallel, read-only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22402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02B"/>
                </a:solidFill>
              </a:rPr>
              <a:t>The new app reads migrated data while the old one stays the system of record; people find the differences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915400" y="15544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98280" y="1737360"/>
            <a:ext cx="457200" cy="54864"/>
          </a:xfrm>
          <a:prstGeom prst="rect">
            <a:avLst/>
          </a:prstGeom>
          <a:solidFill>
            <a:srgbClr val="3F7D20"/>
          </a:solidFill>
          <a:ln/>
        </p:spPr>
      </p:sp>
      <p:sp>
        <p:nvSpPr>
          <p:cNvPr id="23" name="Text 20"/>
          <p:cNvSpPr/>
          <p:nvPr/>
        </p:nvSpPr>
        <p:spPr>
          <a:xfrm>
            <a:off x="9098280" y="1828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41B"/>
                </a:solidFill>
              </a:rPr>
              <a:t>4. Cut over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098280" y="22402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02B"/>
                </a:solidFill>
              </a:rPr>
              <a:t>Short freeze, final delta, smoke checklist per app, rollback that has been run on the copy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Decision to make early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Which app is the source of truth for a person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The three apps almost certainly disagree about names, emails and who is active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What a tenant means in each app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If one app is per-location and another per-client, the mapping is a business decision, not a technical one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What history you actually need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Moving five years of logs costs sprint time; archiving them costs a day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Who signs off each cutover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One named person per app, with the checklist in front of them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7. MIGRATION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The cutover checklist, written before the day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16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645920"/>
            <a:ext cx="6858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8202B"/>
                </a:solidFill>
              </a:rPr>
              <a:t>Freeze writes in the old app and post the notice the team has already seen in rehearsal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8202B"/>
                </a:solidFill>
              </a:rPr>
              <a:t>Run the final delta import; compare row counts and checksums against the frozen source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8202B"/>
                </a:solidFill>
              </a:rPr>
              <a:t>Run the smoke checklist: sign in as each role, open the five screens that matter, create one record of each kind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8202B"/>
                </a:solidFill>
              </a:rPr>
              <a:t>Point DNS or the feature flag at the new module; keep the old app readable for two weeks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8202B"/>
                </a:solidFill>
              </a:rPr>
              <a:t>Watch the error rate and the audit trail for the first working day, with a named person on call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8202B"/>
                </a:solidFill>
              </a:rPr>
              <a:t>Rollback, if needed: flip the flag back, restore the frozen copy, and the old app is still the system of record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93776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93776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A rollback that has never been run is a hope. I run it against the copy during the rehearsal, and the time it took goes in the plan.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54864" cy="73152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45920"/>
          <a:ext cx="3931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Row counts per table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Exact match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Checksums on money fields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Exact match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Orphaned foreign keys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Zero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People without a tenant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Zero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Smoke checklist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All green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Time to roll back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Measured, under 30 minutes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8. MODULES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Pay plans and coaching workflows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17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645920"/>
            <a:ext cx="6766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Plans are records, not a status field: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amount, cadence, next charge date and a state that moves through active, paused, arrears and ended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Arrears is a state, not a report: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it is set by the same job that raises alerts, so the number on the dashboard and the badge on the client agree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A client sees only their own plan: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policy, not the page, is what stops a link to another plan working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Sessions carry the coach and the client: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which makes the coach view, the client view and the attendance metric one query each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Money paths get tests first: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state changes and any proration are covered before a client sees the screen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543800" y="1691640"/>
            <a:ext cx="5579565" cy="1920240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1" name="Image 1" descr="/tmp/claude-1000/-home-ph-Client-Upwork-ritvia/b09148c5-7830-4dd8-977f-982890f12fbc/scratchpad/tvdeck/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645920"/>
            <a:ext cx="5579565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98080" y="1645920"/>
            <a:ext cx="5579565" cy="1920240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32320" y="3639312"/>
            <a:ext cx="63110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Tasks and rota from the same tenant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5212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Payments themselves stay with your provider. This module tracks intent and state; the provider stays the source of truth for a charge.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5303520"/>
            <a:ext cx="54864" cy="54864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8. MODULES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KPI dashboard: one metrics table, read through the policies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18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783080"/>
            <a:ext cx="11064240" cy="2047603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tvdeck/k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1064240" cy="204760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737360"/>
            <a:ext cx="11064240" cy="2047603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858115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Three metrics for one tenant, 28 days each, with the seven-day trend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Metrics are rows: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tenant, metric, date and value, with a unique key so a re-import cannot double count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Written by jobs, read by everyone: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numbers on a phone and the numbers in a review meeting come from the same table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Coaches read, admins write: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a coach seeing the tenant's numbers is useful; a coach editing them is not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8. MODULES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The watch and alert engine, and how it avoids being ignored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19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737360"/>
            <a:ext cx="6675120" cy="1815069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tvdeck/w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675120" cy="181506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691640"/>
            <a:ext cx="6675120" cy="1815069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579861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Rules as rows; the engine can be run by hand here and on a schedule in production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06640" y="169164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Rules are data: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metric, comparator, threshold, window, severity and how to notify. Changing one is not a deploy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Windows, not spikes: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comparisons use a window average, so one bad Monday does not page anyone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No repeats while open: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a rule that has already fired stays quiet until the alert is resolved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One tag per rule: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a phone that was off all day shows one current alert per rule, not forty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Same function everywhere: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browser, scheduled job and tests run the identical evaluator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502920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502920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Alert fatigue is the failure mode for this module. Thresholds that fire every day get muted, and then the one that mattered is muted too.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5120640"/>
            <a:ext cx="54864" cy="64008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8. MODULES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Tasks, rota and holidays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20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783080"/>
            <a:ext cx="6858000" cy="2360221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tvdeck/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858000" cy="236022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737360"/>
            <a:ext cx="6858000" cy="2360221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4170733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The task board and the rota, with a holiday request awaiting approval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589520" y="1737360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Raise your own, approve if you may: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a coach can request holiday and move their own tasks; approving is an owner or admin policy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Rota is read-only for coaches: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they see the week, they do not rewrite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Cover before approval: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the SOP says name the cover first, and the module records who it 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Everything is tenant scoped: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a coach working across two tenants sees two rotas, not one merged view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695944" y="4443984"/>
            <a:ext cx="904021" cy="1764792"/>
          </a:xfrm>
          <a:prstGeom prst="roundRect">
            <a:avLst>
              <a:gd name="adj" fmla="val 22253"/>
            </a:avLst>
          </a:prstGeom>
          <a:solidFill>
            <a:srgbClr val="0F141B"/>
          </a:solidFill>
          <a:ln w="12700">
            <a:solidFill>
              <a:srgbClr val="0F141B"/>
            </a:solidFill>
            <a:prstDash val="solid"/>
          </a:ln>
        </p:spPr>
      </p:sp>
      <p:pic>
        <p:nvPicPr>
          <p:cNvPr id="15" name="Image 2" descr="/tmp/claude-1000/-home-ph-Client-Upwork-ritvia/b09148c5-7830-4dd8-977f-982890f12fbc/scratchpad/tvdeck/m-opera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526280"/>
            <a:ext cx="739429" cy="1600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6272784"/>
            <a:ext cx="16538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The same board on a phone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8. MODULES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The SOP repository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21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783080"/>
            <a:ext cx="6766560" cy="4229100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tvdeck/so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766560" cy="42291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737360"/>
            <a:ext cx="6766560" cy="4229100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0396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Agency-wide procedures, plus one that belongs to a single tenant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98080" y="173736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One table, one policy: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a null tenant means agency-wide, so there is no second code path to forget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Tagged and searchable: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gin index on tags, plain text search on title and body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Written where the work is: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the escalation SOP is one click from the alert it describes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Versioned later: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SOPs change; when they do, the same pattern as plans applies, an immutable version per edit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9. PWA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Installable, offline, and careful about what it caches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22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1783080"/>
            <a:ext cx="6766560" cy="4229100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0" name="Image 1" descr="/tmp/claude-1000/-home-ph-Client-Upwork-ritvia/b09148c5-7830-4dd8-977f-982890f12fbc/scratchpad/tvdeck/pw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766560" cy="42291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1737360"/>
            <a:ext cx="6766560" cy="4229100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60396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Live state on the device: worker, manifest, install, notifications, connection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498080" y="173736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Shell cached, data not: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on a shared phone a cached tenant response must never reach the next person, so /api is skipped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Network first for pages: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a signed-in person online always gets fresh data; the cache is the fallback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Versioned cache: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old caches are deleted on activate, so a new build cannot serve yesterday's shell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Offline page: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the app opens and says what it can and cannot do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695944" y="4352544"/>
            <a:ext cx="946274" cy="1856232"/>
          </a:xfrm>
          <a:prstGeom prst="roundRect">
            <a:avLst>
              <a:gd name="adj" fmla="val 21259"/>
            </a:avLst>
          </a:prstGeom>
          <a:solidFill>
            <a:srgbClr val="0F141B"/>
          </a:solidFill>
          <a:ln w="12700">
            <a:solidFill>
              <a:srgbClr val="0F141B"/>
            </a:solidFill>
            <a:prstDash val="solid"/>
          </a:ln>
        </p:spPr>
      </p:sp>
      <p:pic>
        <p:nvPicPr>
          <p:cNvPr id="15" name="Image 2" descr="/tmp/claude-1000/-home-ph-Client-Upwork-ritvia/b09148c5-7830-4dd8-977f-982890f12fbc/scratchpad/tvdeck/m-va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4434840"/>
            <a:ext cx="781682" cy="1691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6272784"/>
            <a:ext cx="16960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The vault on a phone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9. PWA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Push notifications, end to end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23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54480"/>
            <a:ext cx="11064240" cy="1737360"/>
          </a:xfrm>
          <a:prstGeom prst="rect">
            <a:avLst/>
          </a:prstGeom>
          <a:solidFill>
            <a:srgbClr val="152F7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// once per device, after the person agrees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const sub = await registration.pushManager.subscribe({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  userVisibleOnly: true, applicationServerKey: VAPID_PUBLIC_KEY });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await supabase.from("push_subscriptions").insert({ user_id, tenant_id, endpoint: sub.endpoint, keys: sub.toJSON().keys });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// in the scheduled function, when the watch engine raises an alert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const res = await webpush.sendNotification(sub, JSON.stringify({ title, body, url: "/operations", tag: rule_id }));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CF5"/>
                </a:solidFill>
                <a:latin typeface="Consolas" pitchFamily="34" charset="0"/>
                <a:ea typeface="" pitchFamily="34" charset="-122"/>
                <a:cs typeface="" pitchFamily="34" charset="-120"/>
              </a:rPr>
              <a:t>if (res.statusCode === 404 || res.statusCode === 410) await deleteSubscription(sub.endpoint);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356616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Subscriptions expire: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send path deletes dead endpoints, or the table fills with noise and the send job slows down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iOS needs the install: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web push only reaches an installed PWA on iOS 16.4 or later, so installing is part of onboarding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No client detail in the body: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notification names the metric and the tenant; the detail is behind the sign-in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Per person and per device: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a coach with a phone and a tablet gets one notification on each, with the same tag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3611880"/>
            <a:ext cx="3073791" cy="2103120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12" name="Image 1" descr="/tmp/claude-1000/-home-ph-Client-Upwork-ritvia/b09148c5-7830-4dd8-977f-982890f12fbc/scratchpad/tvdeck/pwa-cach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566160"/>
            <a:ext cx="3073791" cy="21031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498080" y="3566160"/>
            <a:ext cx="3073791" cy="2103120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32320" y="5742432"/>
            <a:ext cx="38053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What is cached, and what is deliberately not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10. VIDEO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Gemini video analysis, shaped so a slow model never blocks a request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24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1993392"/>
            <a:ext cx="64008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Upload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signed URL, private bucket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8036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80360" y="1993392"/>
            <a:ext cx="64008" cy="6309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Job row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queued, tenant scoped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06040" y="2308860"/>
            <a:ext cx="2743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21208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9A5B0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12080" y="1993392"/>
            <a:ext cx="64008" cy="630936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Worker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calls Gemini, retries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37760" y="2308860"/>
            <a:ext cx="2743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54380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9A5B0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43800" y="1993392"/>
            <a:ext cx="64008" cy="630936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Validate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schema check before storage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69480" y="2308860"/>
            <a:ext cx="2743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875520" y="1920240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3F7D2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75520" y="1993392"/>
            <a:ext cx="64008" cy="630936"/>
          </a:xfrm>
          <a:prstGeom prst="rect">
            <a:avLst/>
          </a:prstGeom>
          <a:solidFill>
            <a:srgbClr val="3F7D20"/>
          </a:solidFill>
          <a:ln w="12700">
            <a:solidFill>
              <a:srgbClr val="3F7D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12680" y="192024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41B"/>
                </a:solidFill>
              </a:rPr>
              <a:t>Result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</a:rPr>
              <a:t>rows a coach can act 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9601200" y="2308860"/>
            <a:ext cx="274320" cy="914"/>
          </a:xfrm>
          <a:prstGeom prst="line">
            <a:avLst/>
          </a:prstGeom>
          <a:noFill/>
          <a:ln w="1905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548640" y="3200400"/>
            <a:ext cx="11064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Nothing synchronous: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upload returns immediately; analysis is a job with a status the client can poll or subscribe to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Validated before it is stored: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model output is checked against a schema, and a failure is recorded as a failed job rather than saved as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Cost is visible: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each job records duration and token cost per tenant, so the plan tier can be priced on real numbers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Private by default: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video lives in a private bucket with short-lived signed URLs, and the model call carries no client names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Fallbacks: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if the model is unavailable the job retries with backoff and the coach sees the video with a note, not an error page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11. HOW I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Claude Code inside a loop, not instead of 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25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6459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828800"/>
            <a:ext cx="4572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41B"/>
                </a:solidFill>
              </a:rPr>
              <a:t>1. Contract first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02B"/>
                </a:solidFill>
              </a:rPr>
              <a:t>Schema, policies and types before any UI. It fills in shapes that exist; it invents badly.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37560" y="16459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1828800"/>
            <a:ext cx="4572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2"/>
          <p:cNvSpPr/>
          <p:nvPr/>
        </p:nvSpPr>
        <p:spPr>
          <a:xfrm>
            <a:off x="3520440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41B"/>
                </a:solidFill>
              </a:rPr>
              <a:t>2. Small branches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20440" y="2331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02B"/>
                </a:solidFill>
              </a:rPr>
              <a:t>One module, a plan in the prompt, and a diff I read line by line.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26480" y="16459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09360" y="1828800"/>
            <a:ext cx="4572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360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41B"/>
                </a:solidFill>
              </a:rPr>
              <a:t>3. A test that fails first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2331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02B"/>
                </a:solidFill>
              </a:rPr>
              <a:t>Every generated behaviour gets a test written to fail. The isolation suite exists for this reason.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915400" y="16459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D262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098280" y="1828800"/>
            <a:ext cx="45720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9098280" y="1920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41B"/>
                </a:solidFill>
              </a:rPr>
              <a:t>4. Run the real thing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098280" y="233172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8202B"/>
                </a:solidFill>
              </a:rPr>
              <a:t>Local Postgres and a deployed preview. Most mistakes survive a green typecheck and die on first contact.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41148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What I never delegate: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policies and auth, money paths, the vault, migrations and cutovers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What it is very good at: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filling in a schema-shaped module, test scaffolding, repetitive UI, and reading a large codebase quickly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How much it writes: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most of the routine code, none of the decisions, and nothing that reaches production unread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11. HOW I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Five mistakes I caught, and how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75"/>
                </a:solidFill>
              </a:rPr>
              <a:t>You asked for this specifically. All five passed a typecheck and looked reasonable in 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26</a:t>
            </a:r>
            <a:endParaRPr lang="en-US" sz="900" dirty="0"/>
          </a:p>
        </p:txBody>
      </p:sp>
      <p:pic>
        <p:nvPicPr>
          <p:cNvPr id="9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6492240"/>
                <a:gridCol w="45720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it got wrong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How it was caught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Set an error workflow in the settings that was never published, so failures raised nothing at all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 test that broke the downstream service on purpose and asserted an alert arrived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Treated an HTTP 200 as success when the response body said ok:false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 stand-in API that returned 200 with ok:false in one scenario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Wrote a PDF route that worked locally and returned 500 on the platform because binaries were missing from the bundle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Testing the deployed preview, not only the local build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Applied one module's matching rules to every provider type, so an equipment supplier was marked as not allowing pets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Reading the rendered output rather than the code, then a test for the type guard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Let a deploy create a project named after the folder it ran in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Checking the deployment list straight after the first deploy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The pattern: the model is confident about things it cannot observe, such as whether a config is active, what a third party returns on failure, or what the bundler ships. So anything it cannot observe has to be observed by a test.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577840"/>
            <a:ext cx="54864" cy="54864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12. QUALITY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What is tested, and what runs in CI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27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9224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Suite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Covers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Runs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Isolation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13 attacks on the policies against a real Postgres built from the migration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Every push, and on the tenancy page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Crypto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Seal, open, rotate, tamper detection, cross-tenant and cross-row separation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Every push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Watch engine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Each comparator, window averages, no repeat alerts while one is open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Every push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Type and build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TypeScript strict with noUncheckedIndexedAccess, production build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Every push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Preview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 deployed preview per pull request, with the smoke checklist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Every pull request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Migrations run in CI: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against a scratch database, so a policy change is reviewed like code and cannot silently fail on staging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Seed data is part of the test: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three tenants and four roles, because a single-tenant fixture hides exactly the bugs that matter here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0F141B"/>
                </a:solidFill>
              </a:rPr>
              <a:t>What is not covered yet: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8202B"/>
                </a:solidFill>
              </a:rPr>
              <a:t>load testing, and end-to-end browser tests for the modules built in later sprints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12. QUALITY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Security and privacy, beyond the policies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28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What is in place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Secrets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Service role key server side only; the vault master key in a KMS; nothing sensitive in NEXT_PUBLIC_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Headers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Strict CSP, nosniff, referrer policy, permissions policy and HSTS set in next.config, noindex across the demo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Sessions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Supabase Auth with short-lived JWTs; roles resolved per query rather than cached in the client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Audit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Append-only events for the vault, with the actor taken from the JWT and not from the request body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Data on devices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No tenant data in the service worker cache; the PWA holds a session and nothing else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People leaving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One membership row removed ends access everywhere, including anything already cached on their phone after the next request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Personal data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Client records stay in one tenant; exports are a named function with an audit entry, not an ad hoc query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13. ONE DECISION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Next.js 14 is fixed in your brief. Here is what that costs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29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73736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8202B"/>
                </a:solidFill>
              </a:rPr>
              <a:t>The demo runs on 14.2.35, the newest release in the 14 line, because your post fixes the version. The advisories patched this year, including App Router cache poisoning, a server component denial of service and the image optimiser issues, are fixed in the 15.5 line only. There is no 14.x release carrying them.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3383280"/>
            <a:ext cx="6766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If you stay on 14: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put Cloudflare rules in front of the image optimiser and the cache, and write down the decision and its review date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If you move to 15: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nothing in this codebase uses an API that changed, so it is a version bump, a test run and a preview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b="1" dirty="0">
                <a:solidFill>
                  <a:srgbClr val="0F141B"/>
                </a:solidFill>
              </a:rPr>
              <a:t>Either way: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8202B"/>
                </a:solidFill>
              </a:rPr>
              <a:t>the code is written so the choice stays open, and I would not spend sprint time on a rewrite for it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37360"/>
          <a:ext cx="4114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Advisory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Fixed in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App Router cache poisoning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15.5.16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Server component denial of service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15.5.15 and 15.5.16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Image optimiser denial of service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15.5.10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Cache-busting collisions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15.5.16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CSP nonce cross-site scripting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15.5.16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498080" y="49377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80960" y="4937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Raised now because it is cheap to decide in sprint one and expensive to discover in sprint five.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98080" y="5029200"/>
            <a:ext cx="54864" cy="54864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14. DELIVERY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Five sprints, plus the paid trial week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30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0352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Trial week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Encrypted credential vault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Sprint 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Multi-tenant scaffolding and role-based auth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70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Sprint 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Migration of the three live apps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Sprint 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Pay plans and coaching workflows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70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Sprint 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KPI dashboard, watch engine, PWA and push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75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Sprint 5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Tasks, rota and holidays, SOPs, video analysis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8202B"/>
                          </a:solidFill>
                        </a:rPr>
                        <a:t>70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8202B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8202B"/>
                          </a:solidFill>
                        </a:rPr>
                        <a:t>395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503920" y="146304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E8EEFC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0" y="15727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D8"/>
                </a:solidFill>
              </a:rPr>
              <a:t>395 h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8686800" y="2084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estimated across trial and five sprints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503920" y="274320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E8EEFC"/>
          </a:solidFill>
          <a:ln w="12700">
            <a:solidFill>
              <a:srgbClr val="C9D5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0" y="28529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D8"/>
                </a:solidFill>
              </a:rPr>
              <a:t>$15,800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686800" y="33649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5"/>
                </a:solidFill>
              </a:rPr>
              <a:t>at a $40/h planning rate, fixed per sprint once scoped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503920" y="406908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FCF0DC"/>
          </a:solidFill>
          <a:ln w="12700">
            <a:solidFill>
              <a:srgbClr val="FCF0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86800" y="406908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02B"/>
                </a:solidFill>
              </a:rPr>
              <a:t>Fixed price per sprint, agreed from the written scope before the sprint starts. The trial week is priced separately and stands alone, so you can stop after it with a working vault module.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503920" y="4160520"/>
            <a:ext cx="54864" cy="1371600"/>
          </a:xfrm>
          <a:prstGeom prst="rect">
            <a:avLst/>
          </a:prstGeom>
          <a:solidFill>
            <a:srgbClr val="9A5B06"/>
          </a:solidFill>
          <a:ln w="12700">
            <a:solidFill>
              <a:srgbClr val="9A5B0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502920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8202B"/>
                </a:solidFill>
              </a:rPr>
              <a:t>Each sprint ends with the module in use on staging behind a flag, its tests in CI, and a short written handover. A retainer after launch suits me: the same person who built the modules keeps them running.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15. RISKS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What could go wrong, and how it is handled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31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57607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The three apps disagree about people and tenants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Mapping document and a source of truth per entity agreed in sprint 2, before any import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Scope grows inside a fixed-price sprint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Medium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Written scope per sprint; anything new is priced into the next one rather than absorbed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A policy is loosened by accident later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Medium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The isolation suite fails the build; new tables require a policy and a check in the same pull request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Push is unreliable on iOS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Medium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Install is part of onboarding, with email as the fallback channel on rules that matter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Video analysis cost grows quietly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Medium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Cost per job recorded per tenant, with a monthly cap and an alert when it is approached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Staying on Next.js 14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Medium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Cloudflare mitigations now, and a one-sprint upgrade path kept open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Solo contractor availability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Low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Everything in your repository, tests in CI, written handover per sprint, and no undocumented local setup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52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D4ED8">
              <a:alpha val="60000"/>
            </a:srgbClr>
          </a:solidFill>
          <a:ln/>
        </p:spPr>
      </p:sp>
      <p:pic>
        <p:nvPicPr>
          <p:cNvPr id="3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768096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Valdis Licis · Full-stack and platform work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201168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Next step: the brief under NDA, then the trial week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6D3EE"/>
                </a:solidFill>
              </a:rPr>
              <a:t>Send the full brief; I will come back with a fixed price per sprint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6D3EE"/>
                </a:solidFill>
              </a:rPr>
              <a:t>Tell me which of the three live apps has the messiest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6D3EE"/>
                </a:solidFill>
              </a:rPr>
              <a:t>Confirm the Next.js 14 decision, or plan the upgrade into sprint 1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6D3EE"/>
                </a:solidFill>
              </a:rPr>
              <a:t>Give me a Supabase project and a repository for the trial week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50" dirty="0">
                <a:solidFill>
                  <a:srgbClr val="C6D3EE"/>
                </a:solidFill>
              </a:rPr>
              <a:t>Agree what done means for the vault module, in writing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E4"/>
                </a:solidFill>
              </a:rPr>
              <a:t>Prepared by Valdis Licis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95160" y="1508760"/>
            <a:ext cx="4663440" cy="3172968"/>
          </a:xfrm>
          <a:prstGeom prst="rect">
            <a:avLst/>
          </a:prstGeom>
          <a:solidFill>
            <a:srgbClr val="C9D2DE"/>
          </a:solidFill>
          <a:ln w="12700">
            <a:solidFill>
              <a:srgbClr val="C9D2DE"/>
            </a:solidFill>
            <a:prstDash val="solid"/>
          </a:ln>
        </p:spPr>
      </p:sp>
      <p:pic>
        <p:nvPicPr>
          <p:cNvPr id="9" name="Image 1" descr="/tmp/claude-1000/-home-ph-Client-Upwork-ritvia/b09148c5-7830-4dd8-977f-982890f12fbc/scratchpad/tvdeck/mistak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663440" cy="31729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49440" y="1463040"/>
            <a:ext cx="4663440" cy="3172968"/>
          </a:xfrm>
          <a:prstGeom prst="rect">
            <a:avLst/>
          </a:prstGeom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49440" y="4800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0E4"/>
                </a:solidFill>
              </a:rPr>
              <a:t>Five mistakes caught, from the engineering page of the demo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14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D4ED8"/>
                </a:solidFill>
              </a:rPr>
              <a:t>APPENDIX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2F7A"/>
                </a:solidFill>
                <a:latin typeface="Georgia" pitchFamily="34" charset="0"/>
                <a:ea typeface="" pitchFamily="34" charset="-122"/>
                <a:cs typeface="" pitchFamily="34" charset="-120"/>
              </a:rPr>
              <a:t>Sources and notes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1672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5"/>
                </a:solidFill>
              </a:rPr>
              <a:t>Trelvane platform · Multi-tenant SaaS: technical and delivery plan · 33</a:t>
            </a:r>
            <a:endParaRPr lang="en-US" sz="900" dirty="0"/>
          </a:p>
        </p:txBody>
      </p:sp>
      <p:pic>
        <p:nvPicPr>
          <p:cNvPr id="8" name="Image 0" descr="/tmp/claude-1000/-home-ph-Client-Upwork-ritvia/b09148c5-7830-4dd8-977f-982890f12fbc/scratchpad/pptx19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47472"/>
            <a:ext cx="411480" cy="411480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6751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Next.js security advisories and fixed versions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GitHub Advisory Database entries for Next.js, checked 23 September 2026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Row level security, auth.uid() and the three roles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Supabase documentation, Row Level Security and Auth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Postgres in the browser (PGlite)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ElectricSQL PGlite, Postgres 16 compiled to WebAssembly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Web push and VAPID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MDN Push API and Web Push Protocol documentation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Web push on iOS requires an installed PWA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Apple, Web Push for Home Screen web apps (iOS 16.4)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Envelope encryption pattern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AES-GCM key wrapping with WebCrypto; KMS envelope encryption practice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Demo test results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Own runs on 23 September 2026: 17 tests, 13 isolation checks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8202B"/>
                          </a:solidFill>
                        </a:rPr>
                        <a:t>Hours and price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8202B"/>
                          </a:solidFill>
                        </a:rPr>
                        <a:t>Planning figures at a $40/h rate, to be agreed and fixed per sprint</a:t>
                      </a:r>
                      <a:endParaRPr lang="en-US" sz="115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8202B"/>
                </a:solidFill>
              </a:rPr>
              <a:t>Trelvane Performance, its tenants, staff, clients and secrets are fictional and exist only to demonstrate the platform.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Valdis Licis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Multi-tenant agency platform: technical and delivery plan</dc:title>
  <dc:subject>PptxGenJS Presentation</dc:subject>
  <dc:creator>Valdis Licis</dc:creator>
  <cp:lastModifiedBy>Valdis Licis</cp:lastModifiedBy>
  <cp:revision>1</cp:revision>
  <dcterms:created xsi:type="dcterms:W3CDTF">2026-09-23T09:07:05Z</dcterms:created>
  <dcterms:modified xsi:type="dcterms:W3CDTF">2026-09-23T09:07:05Z</dcterms:modified>
</cp:coreProperties>
</file>